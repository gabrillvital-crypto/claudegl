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73152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DOCK BRASIL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ED6F1"/>
                </a:solidFill>
                <a:latin typeface="Calibri"/>
              </a:rPr>
              <a:t>Engenharia e Serviços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Análise de Renovação  |  Maio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Efcaz SRM  •  Customer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5929E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74980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640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990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07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Uso e Adoção da 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KPIs de uso, fornecedores e 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640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6771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76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Crescimento no Período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Evolução de solicitações e terceiros cadastrados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1274552" cy="74980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640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13639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44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Pontos de Alerta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83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Módulos subutilizados e riscos identificados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79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40479"/>
            <a:ext cx="640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005071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136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Health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5195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Avaliação geral da saúde do cliente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11274552" cy="74980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640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873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782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Oportunidades de Expansão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120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Capacidade, módulos e integrações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77840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640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742431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650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Próximos Passos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989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Plano de ação para renovação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Uso e Adoção da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Dados extraídos do BI de usabilidade  •  Maio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2560320" cy="1554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763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2596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Fornecedores
Ativos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1627632"/>
            <a:ext cx="2560320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73736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4.620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59" y="2482596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Terceiros
Cadastrados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1627632"/>
            <a:ext cx="2560320" cy="1554480"/>
          </a:xfrm>
          <a:prstGeom prst="rect">
            <a:avLst/>
          </a:prstGeom>
          <a:solidFill>
            <a:srgbClr val="167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199" y="173736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3.919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482596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Solicitações
Abertas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627632"/>
            <a:ext cx="25603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173736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89,9%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482596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Taxa de
Aprovação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01568"/>
            <a:ext cx="2560320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11296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6532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Usuários
Cadastrados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39" y="3401568"/>
            <a:ext cx="2560320" cy="155448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79" y="3511296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59" y="4256532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Fornecedores
Contratados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3401568"/>
            <a:ext cx="2560320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199" y="3511296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256532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Módulos
Ativos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401568"/>
            <a:ext cx="2560320" cy="1554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19" y="3511296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265 dias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256532"/>
            <a:ext cx="24688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Média de
Homologação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⚠  Usuários no limite: 24 cadastrados vs. 23 permitidos em contrato (15 + 8 auxiliares). Qualquer novo colaborador exige expansão.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Crescimento no Período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Solicitações por Mês (Jul/2024 → Abr/2026)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53183"/>
            <a:ext cx="1261872" cy="5869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7151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Jul/24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4792" y="3030253"/>
            <a:ext cx="1261872" cy="58162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2774221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Out/24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3184998"/>
            <a:ext cx="1261872" cy="426881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2928966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Jan/25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3152982"/>
            <a:ext cx="1261872" cy="458897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896950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Abr/25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2053761"/>
            <a:ext cx="1261872" cy="155811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1797729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292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Jul/25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59" y="2523331"/>
            <a:ext cx="1261872" cy="10885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59" y="2267299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Out/25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02752" y="2603371"/>
            <a:ext cx="1261872" cy="10085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347339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189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Jan/26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0344" y="1600200"/>
            <a:ext cx="1261872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0344" y="134416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5C"/>
                </a:solidFill>
                <a:latin typeface="Calibri"/>
              </a:rPr>
              <a:t>377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365760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Mar/26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86200"/>
            <a:ext cx="10972800" cy="36576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Terceiros Cadastrados por Mês (Out/2024 → Abr/2026)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66895"/>
            <a:ext cx="1261872" cy="70530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20007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Out/24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64792" y="5164053"/>
            <a:ext cx="1261872" cy="100814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4792" y="4917165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253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Jan/25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72384" y="5104281"/>
            <a:ext cx="1261872" cy="106791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72384" y="4857393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268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72384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Abr/25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9976" y="5004662"/>
            <a:ext cx="1261872" cy="1167537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6" y="4757774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293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9976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Jul/25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87568" y="4725728"/>
            <a:ext cx="1261872" cy="1446471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87568" y="4478840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363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68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Out/25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59" y="4785499"/>
            <a:ext cx="1261872" cy="13867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5159" y="4538611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348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59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Jan/26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02752" y="4757606"/>
            <a:ext cx="1261872" cy="1414593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4510718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355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Mar/26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10344" y="4434840"/>
            <a:ext cx="1261872" cy="1737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10344" y="4187952"/>
            <a:ext cx="1261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436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10344" y="6217920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Abr/26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5929E"/>
                </a:solidFill>
                <a:latin typeface="Calibri"/>
              </a:rPr>
              <a:t>34x mais solicitações em 21 meses  •  Crescimento constante de terceiros — cliente em plena expansão operacional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Pontos de Alerta — Módulos Subutilizados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4630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🔴 Módulo de Avaliação (RFI) — Parado desde Set/2025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Pico de uso em Jul/2025 (170 avaliações). De setembro/2025 a abril/2026: praticamente zero.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Pergunta-chave: o que mudou internamente? Troca de responsável? Processo pausado?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74552" cy="14630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6459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🔴 Buscas Automáticas sem Validade — Renovação Interrompida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4 documentos com Background Check ativo (CNDT, CND, CNPJ, FGTS), mas sem validade configurada. O sistema buscou uma vez e parou — as certidões não são renovadas automaticamente.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Resultado: 53 fornecedores com documentos vencidos. Configurar a validade nesses documentos resolve o ciclo completo de automação.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11274552" cy="14630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164592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103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🟡 Usuários no Limite do Contrato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3095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24 usuários cadastrados vs. 23 permitidos (15 + 8 aux.). Qualquer admissão exige expansão.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Sinalizar proativamente evita bloqueio operacional do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Health Score — Dock Brasil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188720"/>
            <a:ext cx="3200400" cy="2011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1325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514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39C12"/>
                </a:solidFill>
                <a:latin typeface="Calibri"/>
              </a:rPr>
              <a:t>ESTÁVEL COM RISCOS LATENTES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Adoção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733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●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751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Solicitações, fornecedores e terceiros em crescimento acelerado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672" y="2560320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62672" y="2560320"/>
            <a:ext cx="38404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2606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Engajamento de Módulos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2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● CRÍTICO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2" y="32735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Avaliação parada há 8 meses; 53 fornecedores com documentos vencidos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58768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38404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044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70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● ATENÇÃO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Fornecedores (95%) e usuários no teto do contrato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2672" y="5157216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62672" y="5157216"/>
            <a:ext cx="38404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9832" y="5202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Relacionamento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2" y="5568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● ATENÇÃO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58704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28 dias para vencer; necessidade de QBR imediato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4552" cy="347472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B3A5C"/>
                </a:solidFill>
                <a:latin typeface="Calibri"/>
              </a:rPr>
              <a:t>Risco de churn não é por insatisfação — é por falta de engajamento estratégico recente. A renovação tem argumentos sólidos.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Oportunidades de Expansão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371600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27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0759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Expansão de Fornecedores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0992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95,4% de ocupação (763/800). Crescimento mensal constante indica que o teto será atingido em breve.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13432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371600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8658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Expansão de Usuários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889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24 de 23 contratados. Qualquer novo usuário bloqueia o cliente — ação imediata necessária.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92424"/>
            <a:ext cx="137160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85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6557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Reativação do Módulo de Avaliação (RFI)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6791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Parado há 8 meses. Entender causa e propor plano de reengajamento com suporte da Efcaz.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71416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71416"/>
            <a:ext cx="137160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64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445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Buscas Automáticas — Configurar e Expandir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94690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Ativar validade nos 4 documentos existentes para renovação contínua + ampliar escopo de automação nos 65 documentos hoje gerenciados manualmente.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50408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550408"/>
            <a:ext cx="137160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8430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62356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BPO de Gestão Documental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602589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Com 65 documentos manuais e 53 fornecedores com vencidos, a Efcaz pode assumir a gestão documental — reduzindo retrabalho e garantindo compliance contínuo.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Plano de Ação — 28 Dias para a Renovação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1600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Semana 1
até 10/05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234440"/>
            <a:ext cx="9308592" cy="16002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3075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Agendar QBR / Reunião de Renovação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916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Contato: Arthur Sumihara (champion identificado no BI)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96596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Pauta: resultados do período + oportunidades + renovação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4028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Duração sugerida: 40 minutos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828800" cy="1600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204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Semana 2
até 17/05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017520"/>
            <a:ext cx="9308592" cy="16002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090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Conduzir Reunião e Enviar Proposta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4747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Apresentar crescimento (34x em solicitações, 95% de fornecedores)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749039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Levantar causa da parada no módulo de Avaliação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23359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Propor plano de ativação das integrações dormentes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297679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Enviar proposta com opção de upgrade de capacidade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828800" cy="1600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Semana 3-4
até 31/05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4800600"/>
            <a:ext cx="9308592" cy="16002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8737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Negociação e Assinatura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25780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Follow-up da proposta (máx. 3 dias sem resposta)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5321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Alinhar jurídico e financeiro do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8064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Assinatura antes do vencimento — garantir continuidade dos bônus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Vencimento: 31/05/2026  •  Valor mensal: R$ 3.644,00  •  Contato principal: Arthur Sumihara — arthur.sumihara@dockbrasil.com.br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  <a:latin typeface="Calibri"/>
              </a:rPr>
              <a:t>Gabriel Vital  •  Customer Success Specialist  •  Efcaz SRM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vitallgabriel@outlook.com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Efcaz SRM  •  efcaz.com.br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