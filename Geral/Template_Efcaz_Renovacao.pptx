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0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914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[NOME DO CLIENTE]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4B3CC"/>
                </a:solidFill>
                <a:latin typeface="Calibri"/>
              </a:rPr>
              <a:t>[Razão Social / Segmento]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709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Análise de Renovação  |  [Mês/Ano]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257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B3CC"/>
                </a:solidFill>
                <a:latin typeface="Calibri"/>
              </a:rPr>
              <a:t>Gabriel Vital  •  Customer Success Specialist  •  Efcaz SRM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008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AED6F1"/>
                </a:solidFill>
                <a:latin typeface="Calibri"/>
              </a:rPr>
              <a:t>Confidencial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14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5929E"/>
                </a:solidFill>
                <a:latin typeface="Calibri"/>
              </a:rPr>
              <a:t>O que vamos abordar hoje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74552" cy="749808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640080" cy="749808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50876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9903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6A7A"/>
                </a:solidFill>
                <a:latin typeface="Calibri"/>
              </a:rPr>
              <a:t>Uso e Adoção da Plataforma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7465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5929E"/>
                </a:solidFill>
                <a:latin typeface="Calibri"/>
              </a:rPr>
              <a:t>KPIs de uso, fornecedores e terceiros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1127455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640080" cy="749808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37744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26771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6A7A"/>
                </a:solidFill>
                <a:latin typeface="Calibri"/>
              </a:rPr>
              <a:t>Crescimento no Período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61518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5929E"/>
                </a:solidFill>
                <a:latin typeface="Calibri"/>
              </a:rPr>
              <a:t>Evolução de solicitações e terceiros cadastrados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63239"/>
            <a:ext cx="11274552" cy="749808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063239"/>
            <a:ext cx="640080" cy="749808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324612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136391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6A7A"/>
                </a:solidFill>
                <a:latin typeface="Calibri"/>
              </a:rPr>
              <a:t>Pontos de Alerta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483863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5929E"/>
                </a:solidFill>
                <a:latin typeface="Calibri"/>
              </a:rPr>
              <a:t>Módulos subutilizados e riscos identificados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1127455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640080" cy="749808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411480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00507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6A7A"/>
                </a:solidFill>
                <a:latin typeface="Calibri"/>
              </a:rPr>
              <a:t>Health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3525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5929E"/>
                </a:solidFill>
                <a:latin typeface="Calibri"/>
              </a:rPr>
              <a:t>Avaliação geral da saúde do cliente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800600"/>
            <a:ext cx="11274552" cy="749808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800600"/>
            <a:ext cx="640080" cy="749808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498348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87375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6A7A"/>
                </a:solidFill>
                <a:latin typeface="Calibri"/>
              </a:rPr>
              <a:t>Oportunidades de Expansão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522122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5929E"/>
                </a:solidFill>
                <a:latin typeface="Calibri"/>
              </a:rPr>
              <a:t>Capacidade, módulos e integrações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669280"/>
            <a:ext cx="1127455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669280"/>
            <a:ext cx="640080" cy="749808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585216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74243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6A7A"/>
                </a:solidFill>
                <a:latin typeface="Calibri"/>
              </a:rPr>
              <a:t>Próximos Passos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60899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5929E"/>
                </a:solidFill>
                <a:latin typeface="Calibri"/>
              </a:rPr>
              <a:t>Plano de ação e renovação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14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Uso e Adoção da Plataforma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5929E"/>
                </a:solidFill>
                <a:latin typeface="Calibri"/>
              </a:rPr>
              <a:t>Dados extraídos do BI de usabilidade  •  [Mês/Ano]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2560320" cy="1508760"/>
          </a:xfrm>
          <a:prstGeom prst="rect">
            <a:avLst/>
          </a:prstGeom>
          <a:solidFill>
            <a:srgbClr val="0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82495"/>
            <a:ext cx="2377439" cy="784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[000]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47848"/>
            <a:ext cx="2468879" cy="573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Fornecedores
Ativos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39" y="1572768"/>
            <a:ext cx="2560320" cy="150876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79" y="1682495"/>
            <a:ext cx="2377439" cy="784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[000]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59" y="2447848"/>
            <a:ext cx="2468879" cy="573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Terceiros
Cadastrados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59" y="1572768"/>
            <a:ext cx="2560320" cy="1508760"/>
          </a:xfrm>
          <a:prstGeom prst="rect">
            <a:avLst/>
          </a:prstGeom>
          <a:solidFill>
            <a:srgbClr val="14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199" y="1682495"/>
            <a:ext cx="2377439" cy="784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[000]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9" y="2447848"/>
            <a:ext cx="2468879" cy="573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Solicitações
Abertas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572768"/>
            <a:ext cx="2560320" cy="1508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19" y="1682495"/>
            <a:ext cx="2377439" cy="784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[00%]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447848"/>
            <a:ext cx="2468879" cy="573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Taxa de
Aprovação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291840"/>
            <a:ext cx="2560320" cy="15087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401568"/>
            <a:ext cx="2377439" cy="784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[00]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66920"/>
            <a:ext cx="2468879" cy="573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Usuários
Cadastrados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39" y="3291840"/>
            <a:ext cx="2560320" cy="1508760"/>
          </a:xfrm>
          <a:prstGeom prst="rect">
            <a:avLst/>
          </a:prstGeom>
          <a:solidFill>
            <a:srgbClr val="859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79" y="3401568"/>
            <a:ext cx="2377439" cy="784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[000]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59" y="4166920"/>
            <a:ext cx="2468879" cy="573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Fornecedores
Contratados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59" y="3291840"/>
            <a:ext cx="2560320" cy="150876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199" y="3401568"/>
            <a:ext cx="2377439" cy="784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[00]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79" y="4166920"/>
            <a:ext cx="2468879" cy="573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Módulos
Ativos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69680" y="3291840"/>
            <a:ext cx="2560320" cy="150876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19" y="3401568"/>
            <a:ext cx="2377439" cy="784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[000]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4166920"/>
            <a:ext cx="2468879" cy="573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Média de
Homologação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937760"/>
            <a:ext cx="11274552" cy="438912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00176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  <a:latin typeface="Calibri"/>
              </a:rPr>
              <a:t>⚠  [Insira aqui observação de alerta sobre capacidade ou limite de usuários]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Efcaz SRM  •  Análise de Renovação  •  [Nome do Cliente]  •  [Mês/Ano]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14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Crescimento no Período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5929E"/>
                </a:solidFill>
                <a:latin typeface="Calibri"/>
              </a:rPr>
              <a:t>Evolução mensal de solicitações e terceiros cadastrados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74552" cy="347472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6A7A"/>
                </a:solidFill>
                <a:latin typeface="Calibri"/>
              </a:rPr>
              <a:t>Solicitações por Mês  •  [período]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935224"/>
            <a:ext cx="1234440" cy="493776"/>
          </a:xfrm>
          <a:prstGeom prst="rect">
            <a:avLst/>
          </a:prstGeom>
          <a:solidFill>
            <a:srgbClr val="14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493008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5929E"/>
                </a:solidFill>
                <a:latin typeface="Calibri"/>
              </a:rPr>
              <a:t>M1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1368" y="2606040"/>
            <a:ext cx="1234440" cy="822960"/>
          </a:xfrm>
          <a:prstGeom prst="rect">
            <a:avLst/>
          </a:prstGeom>
          <a:solidFill>
            <a:srgbClr val="14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01368" y="3493008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5929E"/>
                </a:solidFill>
                <a:latin typeface="Calibri"/>
              </a:rPr>
              <a:t>M2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99816" y="2688336"/>
            <a:ext cx="1234440" cy="740664"/>
          </a:xfrm>
          <a:prstGeom prst="rect">
            <a:avLst/>
          </a:prstGeom>
          <a:solidFill>
            <a:srgbClr val="14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9816" y="3493008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5929E"/>
                </a:solidFill>
                <a:latin typeface="Calibri"/>
              </a:rPr>
              <a:t>M3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98264" y="2523744"/>
            <a:ext cx="1234440" cy="905256"/>
          </a:xfrm>
          <a:prstGeom prst="rect">
            <a:avLst/>
          </a:prstGeom>
          <a:solidFill>
            <a:srgbClr val="14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8264" y="3493008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5929E"/>
                </a:solidFill>
                <a:latin typeface="Calibri"/>
              </a:rPr>
              <a:t>M4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96712" y="2029967"/>
            <a:ext cx="1234440" cy="1399032"/>
          </a:xfrm>
          <a:prstGeom prst="rect">
            <a:avLst/>
          </a:prstGeom>
          <a:solidFill>
            <a:srgbClr val="14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3493008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5929E"/>
                </a:solidFill>
                <a:latin typeface="Calibri"/>
              </a:rPr>
              <a:t>M5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2243937"/>
            <a:ext cx="1234440" cy="1185062"/>
          </a:xfrm>
          <a:prstGeom prst="rect">
            <a:avLst/>
          </a:prstGeom>
          <a:solidFill>
            <a:srgbClr val="14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3493008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5929E"/>
                </a:solidFill>
                <a:latin typeface="Calibri"/>
              </a:rPr>
              <a:t>M6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93608" y="2079345"/>
            <a:ext cx="1234440" cy="134965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3493008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5929E"/>
                </a:solidFill>
                <a:latin typeface="Calibri"/>
              </a:rPr>
              <a:t>M7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92056" y="1783080"/>
            <a:ext cx="1234440" cy="1645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92056" y="3493008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5929E"/>
                </a:solidFill>
                <a:latin typeface="Calibri"/>
              </a:rPr>
              <a:t>M8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94760"/>
            <a:ext cx="11274552" cy="45720"/>
          </a:xfrm>
          <a:prstGeom prst="rect">
            <a:avLst/>
          </a:prstGeom>
          <a:solidFill>
            <a:srgbClr val="859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913632"/>
            <a:ext cx="11274552" cy="347472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95935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6A7A"/>
                </a:solidFill>
                <a:latin typeface="Calibri"/>
              </a:rPr>
              <a:t>Terceiros Cadastrados por Mês  •  [período]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166360"/>
            <a:ext cx="1234440" cy="54864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760720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5929E"/>
                </a:solidFill>
                <a:latin typeface="Calibri"/>
              </a:rPr>
              <a:t>M1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01368" y="4919472"/>
            <a:ext cx="1234440" cy="795527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01368" y="5760720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5929E"/>
                </a:solidFill>
                <a:latin typeface="Calibri"/>
              </a:rPr>
              <a:t>M2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99816" y="4864608"/>
            <a:ext cx="1234440" cy="850392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99816" y="5760720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5929E"/>
                </a:solidFill>
                <a:latin typeface="Calibri"/>
              </a:rPr>
              <a:t>M3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98264" y="4782312"/>
            <a:ext cx="1234440" cy="932688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98264" y="5760720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5929E"/>
                </a:solidFill>
                <a:latin typeface="Calibri"/>
              </a:rPr>
              <a:t>M4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96712" y="4576572"/>
            <a:ext cx="1234440" cy="1138428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96712" y="5760720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5929E"/>
                </a:solidFill>
                <a:latin typeface="Calibri"/>
              </a:rPr>
              <a:t>M5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95160" y="4617720"/>
            <a:ext cx="1234440" cy="109728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95160" y="5760720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5929E"/>
                </a:solidFill>
                <a:latin typeface="Calibri"/>
              </a:rPr>
              <a:t>M6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93608" y="4590288"/>
            <a:ext cx="1234440" cy="1124712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93608" y="5760720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5929E"/>
                </a:solidFill>
                <a:latin typeface="Calibri"/>
              </a:rPr>
              <a:t>M7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92056" y="4343400"/>
            <a:ext cx="1234440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92056" y="5760720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5929E"/>
                </a:solidFill>
                <a:latin typeface="Calibri"/>
              </a:rPr>
              <a:t>M8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739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5929E"/>
                </a:solidFill>
                <a:latin typeface="Calibri"/>
              </a:rPr>
              <a:t>[Insira aqui o insight de crescimento do período — ex: X vezes mais solicitações em Y meses]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14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Pontos de Alerta — Módulos Subutilizados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18872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64592" cy="1188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A2A"/>
                </a:solidFill>
                <a:latin typeface="Calibri"/>
              </a:rPr>
              <a:t>🔴 [Título do Alerta 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5929E"/>
                </a:solidFill>
                <a:latin typeface="Calibri"/>
              </a:rPr>
              <a:t>[Descrição do alerta — ex: módulo parado, integração inativa]</a:t>
            </a:r>
          </a:p>
          <a:p>
            <a:pPr algn="l"/>
            <a:r>
              <a:rPr sz="1100" b="0">
                <a:solidFill>
                  <a:srgbClr val="85929E"/>
                </a:solidFill>
                <a:latin typeface="Calibri"/>
              </a:rPr>
              <a:t>[Pergunta estratégica a levantar na reunião]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11274552" cy="118872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164592" cy="1188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51760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A2A"/>
                </a:solidFill>
                <a:latin typeface="Calibri"/>
              </a:rPr>
              <a:t>🔴 [Título do Alerta 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35808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5929E"/>
                </a:solidFill>
                <a:latin typeface="Calibri"/>
              </a:rPr>
              <a:t>[Descrição do alerta — ex: integrações automáticas inativas]</a:t>
            </a:r>
          </a:p>
          <a:p>
            <a:pPr algn="l"/>
            <a:r>
              <a:rPr sz="1100" b="0">
                <a:solidFill>
                  <a:srgbClr val="85929E"/>
                </a:solidFill>
                <a:latin typeface="Calibri"/>
              </a:rPr>
              <a:t>[Impacto operacional para o cliente]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86200"/>
            <a:ext cx="11274552" cy="118872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886200"/>
            <a:ext cx="164592" cy="1188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77639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A2A"/>
                </a:solidFill>
                <a:latin typeface="Calibri"/>
              </a:rPr>
              <a:t>🟡 [Título do Alerta 3]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61688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5929E"/>
                </a:solidFill>
                <a:latin typeface="Calibri"/>
              </a:rPr>
              <a:t>[Descrição — ex: recurso disponível mas não configurado]</a:t>
            </a:r>
          </a:p>
          <a:p>
            <a:pPr algn="l"/>
            <a:r>
              <a:rPr sz="1100" b="0">
                <a:solidFill>
                  <a:srgbClr val="85929E"/>
                </a:solidFill>
                <a:latin typeface="Calibri"/>
              </a:rPr>
              <a:t>[Oportunidade de ativação e redução de retrabalho]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212079"/>
            <a:ext cx="11274552" cy="118872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212079"/>
            <a:ext cx="164592" cy="1188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303519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A2A"/>
                </a:solidFill>
                <a:latin typeface="Calibri"/>
              </a:rPr>
              <a:t>🟡 [Título do Alerta 4]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87567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5929E"/>
                </a:solidFill>
                <a:latin typeface="Calibri"/>
              </a:rPr>
              <a:t>[Descrição — ex: usuários próximos do limite]</a:t>
            </a:r>
          </a:p>
          <a:p>
            <a:pPr algn="l"/>
            <a:r>
              <a:rPr sz="1100" b="0">
                <a:solidFill>
                  <a:srgbClr val="85929E"/>
                </a:solidFill>
                <a:latin typeface="Calibri"/>
              </a:rPr>
              <a:t>[Ação preventiva recomendada]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Efcaz SRM  •  Análise de Renovação  •  [Nome do Cliente]  •  [Mês/Ano]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14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Health Score — [Nome do Cliente]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1188720"/>
            <a:ext cx="3200400" cy="2011680"/>
          </a:xfrm>
          <a:prstGeom prst="rect">
            <a:avLst/>
          </a:prstGeom>
          <a:solidFill>
            <a:srgbClr val="0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298448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[0/10]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48716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3CC"/>
                </a:solidFill>
                <a:latin typeface="Calibri"/>
              </a:rPr>
              <a:t>[STATUS GERAL DO CLIENTE]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3840480" cy="114300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61872"/>
            <a:ext cx="384048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075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Adoção Operacional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7335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Calibri"/>
              </a:rPr>
              <a:t>● [STATUS]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7510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[Descrição do nível de uso operacional]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62672" y="2560320"/>
            <a:ext cx="3840480" cy="114300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62672" y="2560320"/>
            <a:ext cx="38404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9832" y="26060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Engajamento de Módulos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9832" y="2971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  <a:latin typeface="Calibri"/>
              </a:rPr>
              <a:t>● [STATUS]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9832" y="327355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[Descrição dos módulos em uso ou parados]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58768"/>
            <a:ext cx="3840480" cy="114300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858768"/>
            <a:ext cx="3840480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90448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Capacidade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2702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  <a:latin typeface="Calibri"/>
              </a:rPr>
              <a:t>● [STATUS]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5720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[Descrição da ocupação vs. contrato]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62672" y="5157216"/>
            <a:ext cx="3840480" cy="114300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62672" y="5157216"/>
            <a:ext cx="3840480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99832" y="520293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Relacionamento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9832" y="556869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  <a:latin typeface="Calibri"/>
              </a:rPr>
              <a:t>● [STATUS]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99832" y="587044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[Descrição do relacionamento e proximidade do vencimento]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400800"/>
            <a:ext cx="11274552" cy="347472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645566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0A6A7A"/>
                </a:solidFill>
                <a:latin typeface="Calibri"/>
              </a:rPr>
              <a:t>[Insira aqui o diagnóstico síntese: risco de churn, ponto forte, recomendação principal]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14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Oportunidades de Expansão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96012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371600" cy="960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ALTA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307592"/>
            <a:ext cx="8961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A2A"/>
                </a:solidFill>
                <a:latin typeface="Calibri"/>
              </a:rPr>
              <a:t>[Oportunidade 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70992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5929E"/>
                </a:solidFill>
                <a:latin typeface="Calibri"/>
              </a:rPr>
              <a:t>[Descrição — ex: cliente no teto de fornecedores, crescimento mensal constante]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13432"/>
            <a:ext cx="11274552" cy="96012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13432"/>
            <a:ext cx="1371600" cy="960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606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ALTA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386584"/>
            <a:ext cx="8961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A2A"/>
                </a:solidFill>
                <a:latin typeface="Calibri"/>
              </a:rPr>
              <a:t>[Oportunidade 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78892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5929E"/>
                </a:solidFill>
                <a:latin typeface="Calibri"/>
              </a:rPr>
              <a:t>[Descrição — ex: usuários no limite, qualquer admissão bloqueia]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92424"/>
            <a:ext cx="11274552" cy="96012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392424"/>
            <a:ext cx="1371600" cy="9601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6850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MÉDIA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465576"/>
            <a:ext cx="8961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A2A"/>
                </a:solidFill>
                <a:latin typeface="Calibri"/>
              </a:rPr>
              <a:t>[Oportunidade 3]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867912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5929E"/>
                </a:solidFill>
                <a:latin typeface="Calibri"/>
              </a:rPr>
              <a:t>[Descrição — ex: ativação de integrações contratadas e inativas]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71416"/>
            <a:ext cx="11274552" cy="96012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471416"/>
            <a:ext cx="1371600" cy="9601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76402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MÉDIA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544568"/>
            <a:ext cx="8961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A2A"/>
                </a:solidFill>
                <a:latin typeface="Calibri"/>
              </a:rPr>
              <a:t>[Oportunidade 4]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94690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5929E"/>
                </a:solidFill>
                <a:latin typeface="Calibri"/>
              </a:rPr>
              <a:t>[Descrição — ex: reengajamento de módulo parado]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50408"/>
            <a:ext cx="11274552" cy="96012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550408"/>
            <a:ext cx="1371600" cy="96012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84301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BAIXA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623560"/>
            <a:ext cx="8961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A2A"/>
                </a:solidFill>
                <a:latin typeface="Calibri"/>
              </a:rPr>
              <a:t>[Oportunidade 5]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6025896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5929E"/>
                </a:solidFill>
                <a:latin typeface="Calibri"/>
              </a:rPr>
              <a:t>[Descrição — ex: módulo não contratado com fit ao perfil do cliente]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Efcaz SRM  •  Análise de Renovação  •  [Nome do Cliente]  •  [Mês/Ano]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14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Plano de Ação — [X] Dias para a Renovação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828800" cy="1600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Semana 1
[data]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234440"/>
            <a:ext cx="9308592" cy="160020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3075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A2A"/>
                </a:solidFill>
                <a:latin typeface="Calibri"/>
              </a:rPr>
              <a:t>Agendar QBR / Reunião de Renovação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691640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• [Nome do contato principal — champion identificado]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965960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• Pauta: resultados do período + oportunidades + renovação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240280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• Duração sugerida: 40 minutos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1828800" cy="160020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520439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Semana 2
[data]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23160" y="3017520"/>
            <a:ext cx="9308592" cy="160020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309067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A2A"/>
                </a:solidFill>
                <a:latin typeface="Calibri"/>
              </a:rPr>
              <a:t>Conduzir Reunião e Enviar Proposta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474720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• Apresentar crescimento e valor gerado no período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749039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• Levantar causas de módulos subutilizados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4023359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• Propor plano de ativação e enviar proposta com opção de upgrade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00600"/>
            <a:ext cx="1828800" cy="1600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Semana 3-4
[data]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23160" y="4800600"/>
            <a:ext cx="9308592" cy="160020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0" y="487375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A2A"/>
                </a:solidFill>
                <a:latin typeface="Calibri"/>
              </a:rPr>
              <a:t>Negociação e Assinatura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5257800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• Follow-up da proposta (máx. 3 dias sem resposta)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5532120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• Alinhar jurídico e financeiro do cliente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5806440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• Assinatura antes do vencimento — garantir continuidade dos bônus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solidFill>
            <a:srgbClr val="0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64922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Vencimento: [data]  •  Valor mensal: R$ [valor]  •  Contato: [nome] — [email]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9144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Obrigado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4B3CC"/>
                </a:solidFill>
                <a:latin typeface="Calibri"/>
              </a:rPr>
              <a:t>Gabriel Vital  •  Customer Success Specialist  •  Efcaz SRM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vitallgabriel@outlook.com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B3CC"/>
                </a:solidFill>
                <a:latin typeface="Calibri"/>
              </a:rPr>
              <a:t>Efcaz SRM  •  efcaz.com.br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