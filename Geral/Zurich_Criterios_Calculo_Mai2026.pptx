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3852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27248"/>
            <a:ext cx="9144000" cy="109728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Critérios de Cálculo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F5F8"/>
                </a:solidFill>
                <a:latin typeface="Barlow Condensed"/>
              </a:rPr>
              <a:t>Dashboard Zurich Airport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Barlow"/>
              </a:rPr>
              <a:t>Lógica por trás dos indicadores  |  Efcaz × Zurich Airport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Barlow Condensed"/>
              </a:rPr>
              <a:t>Maio / 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Origem dos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Três relatórios exportados da Efcaz — base de todos os cálculos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41248"/>
            <a:ext cx="2788920" cy="5303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8595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886968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Pendências por Solicitação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278892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4813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Pendências abertas por fornecedor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139696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Tipo de documento exigido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79806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Área (Trabalhadores / Documentos)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45643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Status (EM_ELABORACAO / APROVADO)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841248"/>
            <a:ext cx="2788920" cy="53035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8595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Barlow Condensed"/>
              </a:rPr>
              <a:t>R2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886968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Terceiros Cadastrados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371600"/>
            <a:ext cx="278892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14813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Trabalhadores ativos por fornecedor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139696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Trabalhadores inativos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79806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Dados cadastrais dos terceiros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841248"/>
            <a:ext cx="2788920" cy="5303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8595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886968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Situação Documental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371600"/>
            <a:ext cx="278892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48132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Status de cada doc por trabalhador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2139696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% Conformidade e Não Conformidade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279806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Docs vencidos / pendentes / conformes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345643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32B2B"/>
                </a:solidFill>
                <a:latin typeface="Barlow"/>
              </a:rPr>
              <a:t>! FILTRADO: última solicitação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Como cada documento é classificado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Relatório 3 — Situação Documental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8686800" cy="34747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41248"/>
            <a:ext cx="8503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Cada linha do R3  =  1 documento  ×  1 trabalhador  ×  1 fornecedor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261872"/>
            <a:ext cx="8686800" cy="365760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128930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Barlow Condensed"/>
              </a:rPr>
              <a:t>Status no 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128930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Barlow Condensed"/>
              </a:rPr>
              <a:t>Classificação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28930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Barlow Condensed"/>
              </a:rPr>
              <a:t>Entra no cálculo?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719072"/>
            <a:ext cx="8686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1719072"/>
            <a:ext cx="73152" cy="621792"/>
          </a:xfrm>
          <a:prstGeom prst="rect">
            <a:avLst/>
          </a:prstGeom>
          <a:solidFill>
            <a:srgbClr val="7BB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186537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"/>
              </a:rPr>
              <a:t>"A vencer"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1865376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B930"/>
                </a:solidFill>
                <a:latin typeface="Barlow"/>
              </a:rPr>
              <a:t>CONFORME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8653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414015"/>
            <a:ext cx="8686800" cy="62179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414015"/>
            <a:ext cx="73152" cy="621792"/>
          </a:xfrm>
          <a:prstGeom prst="rect">
            <a:avLst/>
          </a:prstGeom>
          <a:solidFill>
            <a:srgbClr val="B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2560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"/>
              </a:rPr>
              <a:t>"Vencido"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25603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32B2B"/>
                </a:solidFill>
                <a:latin typeface="Barlow"/>
              </a:rPr>
              <a:t>VENCIDO  (Não Conforme)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108960"/>
            <a:ext cx="8686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108960"/>
            <a:ext cx="73152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325526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"/>
              </a:rPr>
              <a:t>"Não anexado"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2" y="3255264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Barlow"/>
              </a:rPr>
              <a:t>PENDENTE  (Não Conforme)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32552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803904"/>
            <a:ext cx="8686800" cy="62179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803904"/>
            <a:ext cx="73152" cy="62179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39502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"/>
              </a:rPr>
              <a:t>"N/A"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395020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57575"/>
                </a:solidFill>
                <a:latin typeface="Barlow"/>
              </a:rPr>
              <a:t>Ignorar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39502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NÃO — excluído do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Como o percentual é calculado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Base de cálculo e fórmulas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8686800" cy="6583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595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UNIVERSO  =  Conforme  +  Vencido  +  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17043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6F5F8"/>
                </a:solidFill>
                <a:latin typeface="Barlow"/>
              </a:rPr>
              <a:t>(linhas com status N/A são excluídas do total)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600200"/>
            <a:ext cx="4069080" cy="3017520"/>
          </a:xfrm>
          <a:prstGeom prst="rect">
            <a:avLst/>
          </a:prstGeom>
          <a:solidFill>
            <a:srgbClr val="B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Barlow Condensed"/>
              </a:rPr>
              <a:t>% NÃO CONFORMIDADE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10312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</a:rPr>
              <a:t>Vencido  +  Pendente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05456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603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Barlow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9077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</a:rPr>
              <a:t>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29184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Barlow"/>
              </a:rPr>
              <a:t>Resultado atual: 60,3%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657600"/>
            <a:ext cx="4069080" cy="6858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70332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Barlow"/>
              </a:rPr>
              <a:t>Quanto do total está irregular
(vencido ou nunca enviado)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34343"/>
                </a:solidFill>
                <a:latin typeface="Barlow Condensed"/>
              </a:rPr>
              <a:t>=
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600200"/>
            <a:ext cx="4069080" cy="3017520"/>
          </a:xfrm>
          <a:prstGeom prst="rect">
            <a:avLst/>
          </a:prstGeom>
          <a:solidFill>
            <a:srgbClr val="7BB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66420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Barlow Condensed"/>
              </a:rPr>
              <a:t>% CONFORMIDADE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10312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</a:rPr>
              <a:t>Conforme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505456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5603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Barlow"/>
              </a:rPr>
              <a:t>Universo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9077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arlow"/>
              </a:rPr>
              <a:t>×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29184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Barlow"/>
              </a:rPr>
              <a:t>Resultado atual: 39,7%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657600"/>
            <a:ext cx="4069080" cy="685800"/>
          </a:xfrm>
          <a:prstGeom prst="rect">
            <a:avLst/>
          </a:prstGeom>
          <a:solidFill>
            <a:srgbClr val="4A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370332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Barlow"/>
              </a:rPr>
              <a:t>Quanto do total está em dia
(dentro do prazo de validade)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Dois níveis de cálculo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O percentual pode ser visto de forma global ou individual por fornecedor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4069080" cy="379476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8696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Barlow Condensed"/>
              </a:rPr>
              <a:t>VISÃO GERAL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53312"/>
            <a:ext cx="388620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4264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8FA3"/>
                </a:solidFill>
                <a:latin typeface="Barlow Condensed"/>
              </a:rPr>
              <a:t>Universo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664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Todos os documentos
de todos os fornecedores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8FA3"/>
                </a:solidFill>
                <a:latin typeface="Barlow Condensed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414015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1 único percentual
para o aeroporto inteiro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926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8FA3"/>
                </a:solidFill>
                <a:latin typeface="Barlow Condensed"/>
              </a:rPr>
              <a:t>Exemplo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1638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60,3% de Não Conformidade
geral Zurich Airport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67588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8FA3"/>
                </a:solidFill>
                <a:latin typeface="Barlow Condensed"/>
              </a:rPr>
              <a:t>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91363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KPI principal no topo
do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4688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4343"/>
                </a:solidFill>
                <a:latin typeface="Barlow Condensed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822960"/>
            <a:ext cx="4069080" cy="3794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88696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Barlow Condensed"/>
              </a:rPr>
              <a:t>POR FORNECEDOR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353312"/>
            <a:ext cx="388620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6632" y="14264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9C12"/>
                </a:solidFill>
                <a:latin typeface="Barlow Condensed"/>
              </a:rPr>
              <a:t>Universo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1664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Apenas os documentos
daquele fornecedor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9C12"/>
                </a:solidFill>
                <a:latin typeface="Barlow Condensed"/>
              </a:rP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2414015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1 percentual por empresa
(denominador individual)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2" y="2926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9C12"/>
                </a:solidFill>
                <a:latin typeface="Barlow Condensed"/>
              </a:rPr>
              <a:t>Exemplo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1638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Fornecedor A: 33% NC
Fornecedor B: 87% 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67588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9C12"/>
                </a:solidFill>
                <a:latin typeface="Barlow Condensed"/>
              </a:rPr>
              <a:t>Uso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391363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Gráfico de barras e drill-down
no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Filtro de Última Solicitação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Ponto de atenção para replicar no BD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868680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868680"/>
            <a:ext cx="8467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O Relatório 3 já vem pré-filtrado para a ÚLTIMA solicitação de cada fornecedor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234440"/>
            <a:ext cx="84673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Barlow"/>
              </a:rPr>
              <a:t>Não considera o histórico completo — apenas o estado mais recente de cada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920240"/>
            <a:ext cx="406908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7BB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920240"/>
            <a:ext cx="4069080" cy="384048"/>
          </a:xfrm>
          <a:prstGeom prst="rect">
            <a:avLst/>
          </a:prstGeom>
          <a:solidFill>
            <a:srgbClr val="7BB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47672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SE o filtro for aplicado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42316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Os percentuais batem com o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08152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Cada fornecedor reflete o estado atual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Visão consistente com o que a Débora
vê na plataforma Efcaz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920240"/>
            <a:ext cx="406908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B3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4069080" cy="384048"/>
          </a:xfrm>
          <a:prstGeom prst="rect">
            <a:avLst/>
          </a:prstGeom>
          <a:solidFill>
            <a:srgbClr val="B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947672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SEM o filtro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42316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Solicitações antigas entram no cálculo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08152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Percentuais ficam inflados
ou inconsistentes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373989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Números não batem
com o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553712"/>
            <a:ext cx="8686800" cy="228600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4572000"/>
            <a:ext cx="8467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No BD: filtrar por MAX(solicitacao_id) por fornecedor — ou equivalente na estrutura da Efcaz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De onde vem cada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Mapeamento completo de indicadores, fontes e filtros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8686800" cy="347472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841248"/>
            <a:ext cx="4370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84124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Fonte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2" y="8412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Filtro / Operação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34440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234440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289304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Fornecedores com pendências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280160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1289304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128930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COUNT DISTINCT fornecedor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536192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1536192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1591056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Total pendências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581912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1591056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15910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COUNT todas as linhas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837944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1837944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1892808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Pendente (não enviado)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1883664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189280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189280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Situação da solicitação = "EM_ELABORACAO"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139696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2139696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2194560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Em análise com pendências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185415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18888" y="219456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219456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Situação da solicitação = "APROVADO"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441448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2441448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" y="2496312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Pend. Trabalhadores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487168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2496312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2432" y="249631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Área da pendência = "TERCEIROS"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743200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2743200"/>
            <a:ext cx="64008" cy="30175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" y="2798064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Pend. Documentais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788920"/>
            <a:ext cx="548640" cy="20116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18888" y="2798064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2432" y="27980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Área da pendência = "DOCUMENTOS"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044952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3044952"/>
            <a:ext cx="64008" cy="30175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" y="3099816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Trabalhadores Ativos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00600" y="3090672"/>
            <a:ext cx="548640" cy="201168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18888" y="3099816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42432" y="309981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Status = "Ativo"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346704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3346704"/>
            <a:ext cx="6400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3401568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Docs Conformes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600" y="3392424"/>
            <a:ext cx="54864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18888" y="340156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42432" y="34015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Status = "A vencer"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3648456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8600" y="3648456"/>
            <a:ext cx="6400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8328" y="3703320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Docs Vencidos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00600" y="3694176"/>
            <a:ext cx="54864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18888" y="37033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2432" y="37033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Status = "Vencido"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3950208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8600" y="3950208"/>
            <a:ext cx="6400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8" y="4005072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Docs Pendentes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995928"/>
            <a:ext cx="54864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18888" y="4005072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42432" y="400507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Status = "Não anexado"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251960"/>
            <a:ext cx="8686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600" y="4251960"/>
            <a:ext cx="6400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8328" y="4306824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% Não Conformidade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0600" y="4297680"/>
            <a:ext cx="54864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18888" y="4306824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42432" y="430682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(Vencido + Pendente) / Universo × 100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4553712"/>
            <a:ext cx="868680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8600" y="4553712"/>
            <a:ext cx="6400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8328" y="4608576"/>
            <a:ext cx="4251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% Conformidade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0600" y="4599432"/>
            <a:ext cx="548640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18888" y="4608576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arlow Condensed"/>
              </a:rPr>
              <a:t>R3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42432" y="460857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Conforme / Universo ×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Modelo de atualização automática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Script agendado consulta o BD e regenera o HTML uma vez por dia às 12h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19" y="1554480"/>
            <a:ext cx="1371600" cy="411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19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BD
Zurich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19" y="1965960"/>
            <a:ext cx="1371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39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34343"/>
                </a:solidFill>
                <a:latin typeface="Barlow"/>
              </a:rPr>
              <a:t>Credencial
read-only
(Ricardo)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1783080"/>
            <a:ext cx="246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8FA3"/>
                </a:solidFill>
                <a:latin typeface="Barlow Condensed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554480"/>
            <a:ext cx="1371600" cy="411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Script
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65960"/>
            <a:ext cx="1371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79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34343"/>
                </a:solidFill>
                <a:latin typeface="Barlow"/>
              </a:rPr>
              <a:t>Consulta o BD
e gera o 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783080"/>
            <a:ext cx="246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8FA3"/>
                </a:solidFill>
                <a:latin typeface="Barlow Condensed"/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1554480"/>
            <a:ext cx="1371600" cy="411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Agenda-
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1965960"/>
            <a:ext cx="1371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34343"/>
                </a:solidFill>
                <a:latin typeface="Barlow"/>
              </a:rPr>
              <a:t>Atualiza
1x por dia
às 12h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1783080"/>
            <a:ext cx="246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8FA3"/>
                </a:solidFill>
                <a:latin typeface="Barlow Condensed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554480"/>
            <a:ext cx="1371600" cy="411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Servidor
Efcaz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1965960"/>
            <a:ext cx="1371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34343"/>
                </a:solidFill>
                <a:latin typeface="Barlow"/>
              </a:rPr>
              <a:t>HTML salvo
em link fixo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83080"/>
            <a:ext cx="246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8FA3"/>
                </a:solidFill>
                <a:latin typeface="Barlow Condensed"/>
              </a:rPr>
              <a:t>-&gt;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554480"/>
            <a:ext cx="1371600" cy="41148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Barlow Condensed"/>
              </a:rPr>
              <a:t>Débora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1965960"/>
            <a:ext cx="1371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34343"/>
                </a:solidFill>
                <a:latin typeface="Barlow"/>
              </a:rPr>
              <a:t>Abre o link
sempre
atualizado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944368"/>
            <a:ext cx="8686800" cy="36576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305409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Barlow"/>
              </a:rPr>
              <a:t>O HTML, o visual e o drill-down não mudam — só a fonte dos dados muda (BD em vez de CSV)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429000"/>
            <a:ext cx="8686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0BA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3429000"/>
            <a:ext cx="8686800" cy="320040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45643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Barlow Condensed"/>
              </a:rPr>
              <a:t>Pré-requisitos para implementação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822191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Credencial read-only para o BD do ambiente Zurich (host, porta, usuário, senha)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142231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• Endereço do servidor para publicação do HTML e configuração do agendador (cron / Task Scheduler)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9144000" cy="54864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Barlow Condensed"/>
              </a:rPr>
              <a:t>Acesso contínuo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7548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F5F8"/>
                </a:solidFill>
                <a:latin typeface="Barlow"/>
              </a:rPr>
              <a:t>Usuário acessa link fixo — HTML atualizado automaticamente pelo agendador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86460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 Condensed"/>
              </a:rPr>
              <a:t>Gabriel Vital  •  Customer Success Specialist  •  Efcaz SRM  •  Mai/2026</a:t>
            </a:r>
          </a:p>
        </p:txBody>
      </p:sp>
      <p:pic>
        <p:nvPicPr>
          <p:cNvPr id="9" name="Picture 8" descr="logo_ef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1440"/>
            <a:ext cx="1143000" cy="3997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822960"/>
            <a:ext cx="557784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822960"/>
            <a:ext cx="5577840" cy="38404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8503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Barlow Condensed"/>
              </a:rPr>
              <a:t>Premissas do 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71600"/>
            <a:ext cx="54864" cy="21945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3533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 Condensed"/>
              </a:rPr>
              <a:t>Ambiente isolado por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572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Dados da Zurich separados dos demais clientes na base — sem cruzamento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29967"/>
            <a:ext cx="54864" cy="21945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01167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 Condensed"/>
              </a:rPr>
              <a:t>Credencial 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223113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Script só lê o BD — sem permissão de escrita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88336"/>
            <a:ext cx="54864" cy="21945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6700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 Condensed"/>
              </a:rPr>
              <a:t>Agendamento diário às 12h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288950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Execução automática sem intervenção manual — frequência configurável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46704"/>
            <a:ext cx="54864" cy="21945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3284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 Condensed"/>
              </a:rPr>
              <a:t>Link fixo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5478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Usuário acessa sempre o mesmo endereço — o HTML é sobrescrito a cada ciclo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05072"/>
            <a:ext cx="54864" cy="21945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98678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Barlow Condensed"/>
              </a:rPr>
              <a:t>Dado na infraestrutura Efcaz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206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Não transita por serviços externos — LGPD: dado permanece no ambiente da Efcaz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822960"/>
            <a:ext cx="288036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BA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822960"/>
            <a:ext cx="2880360" cy="384048"/>
          </a:xfrm>
          <a:prstGeom prst="rect">
            <a:avLst/>
          </a:prstGeom>
          <a:solidFill>
            <a:srgbClr val="0B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850392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Barlow Condensed"/>
              </a:rPr>
              <a:t>Horários sugeridos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1417320"/>
            <a:ext cx="804672" cy="475488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1490472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Barlow Condensed"/>
              </a:rPr>
              <a:t>12h00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417320"/>
            <a:ext cx="17556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34343"/>
                </a:solidFill>
                <a:latin typeface="Barlow"/>
              </a:rPr>
              <a:t>Atualização diária
no horário de almoço —
dados disponíveis para
a tarde de trabalho.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3749039"/>
            <a:ext cx="2788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Barlow"/>
              </a:rPr>
              <a:t>Horário ajustável conforme
preferência da operação.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544568"/>
            <a:ext cx="8686800" cy="237744"/>
          </a:xfrm>
          <a:prstGeom prst="rect">
            <a:avLst/>
          </a:prstGeom>
          <a:solidFill>
            <a:srgbClr val="08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562856"/>
            <a:ext cx="8467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6F5F8"/>
                </a:solidFill>
                <a:latin typeface="Barlow"/>
              </a:rPr>
              <a:t>Débora acessa o link a qualquer momento — os dados refletem sempre a última atualização automática.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