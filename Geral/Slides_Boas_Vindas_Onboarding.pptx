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Nossa Jornada de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7 encontros para que você extraia o máximo da plataforma Efcaz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92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Efcaz SRM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11201400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3300984"/>
            <a:ext cx="292608" cy="292608"/>
          </a:xfrm>
          <a:prstGeom prst="ellipse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2971800"/>
            <a:ext cx="54864" cy="329183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463040" cy="347472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3167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1º Enc.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91639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Boas-vindas</a:t>
            </a:r>
          </a:p>
        </p:txBody>
      </p:sp>
      <p:sp>
        <p:nvSpPr>
          <p:cNvPr id="14" name="Oval 13"/>
          <p:cNvSpPr/>
          <p:nvPr/>
        </p:nvSpPr>
        <p:spPr>
          <a:xfrm>
            <a:off x="2692908" y="3300984"/>
            <a:ext cx="292608" cy="292608"/>
          </a:xfrm>
          <a:prstGeom prst="ellipse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1780" y="3593591"/>
            <a:ext cx="54864" cy="384047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7692" y="3977639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07692" y="3977639"/>
            <a:ext cx="1463040" cy="34747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80844" y="4014215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2º Enc.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9132" y="4389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Fluxo de Homologação</a:t>
            </a:r>
          </a:p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e Análise de Cadastro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0" y="3300984"/>
            <a:ext cx="292608" cy="292608"/>
          </a:xfrm>
          <a:prstGeom prst="ellipse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6552" y="2971800"/>
            <a:ext cx="54864" cy="329183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12464" y="1280160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2464" y="1280160"/>
            <a:ext cx="1463040" cy="34747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6" y="13167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3º Enc.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1691639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Preenchimento</a:t>
            </a:r>
          </a:p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de Planilhas</a:t>
            </a:r>
          </a:p>
        </p:txBody>
      </p:sp>
      <p:sp>
        <p:nvSpPr>
          <p:cNvPr id="26" name="Oval 25"/>
          <p:cNvSpPr/>
          <p:nvPr/>
        </p:nvSpPr>
        <p:spPr>
          <a:xfrm>
            <a:off x="5902452" y="3300984"/>
            <a:ext cx="292608" cy="292608"/>
          </a:xfrm>
          <a:prstGeom prst="ellipse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21324" y="3593591"/>
            <a:ext cx="54864" cy="384047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17236" y="3977639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17236" y="3977639"/>
            <a:ext cx="1463040" cy="34747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0388" y="4014215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4º Enc.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8676" y="4389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Configurações da Base,</a:t>
            </a:r>
          </a:p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Relatórios e Outros</a:t>
            </a:r>
          </a:p>
        </p:txBody>
      </p:sp>
      <p:sp>
        <p:nvSpPr>
          <p:cNvPr id="32" name="Oval 31"/>
          <p:cNvSpPr/>
          <p:nvPr/>
        </p:nvSpPr>
        <p:spPr>
          <a:xfrm>
            <a:off x="7507224" y="3300984"/>
            <a:ext cx="292608" cy="292608"/>
          </a:xfrm>
          <a:prstGeom prst="ellipse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26096" y="2971800"/>
            <a:ext cx="54864" cy="329183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2008" y="1280160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22008" y="1280160"/>
            <a:ext cx="1463040" cy="347472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3167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5º Enc.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1691639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Prática Assistida</a:t>
            </a:r>
          </a:p>
        </p:txBody>
      </p:sp>
      <p:sp>
        <p:nvSpPr>
          <p:cNvPr id="38" name="Oval 37"/>
          <p:cNvSpPr/>
          <p:nvPr/>
        </p:nvSpPr>
        <p:spPr>
          <a:xfrm>
            <a:off x="9111996" y="3300984"/>
            <a:ext cx="292608" cy="292608"/>
          </a:xfrm>
          <a:prstGeom prst="ellipse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0868" y="3593591"/>
            <a:ext cx="54864" cy="384047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26780" y="3977639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26780" y="3977639"/>
            <a:ext cx="1463040" cy="347472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9932" y="4014215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6º Enc.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8220" y="4389120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Avaliações, Ocorrências</a:t>
            </a:r>
          </a:p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e Gestão de Terceiros</a:t>
            </a:r>
          </a:p>
        </p:txBody>
      </p:sp>
      <p:sp>
        <p:nvSpPr>
          <p:cNvPr id="44" name="Oval 43"/>
          <p:cNvSpPr/>
          <p:nvPr/>
        </p:nvSpPr>
        <p:spPr>
          <a:xfrm>
            <a:off x="10716768" y="3300984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35640" y="2971800"/>
            <a:ext cx="54864" cy="32918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31552" y="1280160"/>
            <a:ext cx="1463040" cy="1691640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31552" y="1280160"/>
            <a:ext cx="14630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04704" y="1316736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7º Enc.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2992" y="1691639"/>
            <a:ext cx="1280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Check-In Final,</a:t>
            </a:r>
          </a:p>
          <a:p>
            <a:pPr algn="l"/>
            <a:r>
              <a:rPr sz="1000">
                <a:solidFill>
                  <a:srgbClr val="1A2A2A"/>
                </a:solidFill>
                <a:latin typeface="Calibri"/>
              </a:rPr>
              <a:t>Dúvidas e Próximos Passos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Efcaz SRM  •  Onboarding  •  [Nome do Cliente]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Cronograma Sugerido de Encontros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5929E"/>
                </a:solidFill>
                <a:latin typeface="Calibri"/>
              </a:rPr>
              <a:t>Datas de referência — ajuste conforme disponibilidade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292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Efcaz SRM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74552" cy="347472"/>
          </a:xfrm>
          <a:prstGeom prst="rect">
            <a:avLst/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A6A7A"/>
                </a:solidFill>
                <a:latin typeface="Calibri"/>
              </a:rPr>
              <a:t>  O 1º encontro (Boas-vindas) marca o início oficial da jornada. Os demais são agendados com intervalo de 7 dias — edite a data do 1º encontro no Playbook e as demais se preenchem automaticamente.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645920" cy="493776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09928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Encontro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600200"/>
            <a:ext cx="5303520" cy="493776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709928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00200"/>
            <a:ext cx="2286000" cy="493776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709928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Sugerida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600200"/>
            <a:ext cx="1874519" cy="493776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709928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6"/>
            <a:ext cx="1645920" cy="493776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03704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1º Encontro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093976"/>
            <a:ext cx="530352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203704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Boas-vindas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093976"/>
            <a:ext cx="228600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203704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  <a:latin typeface="Calibri"/>
              </a:rPr>
              <a:t>[Definir com o cliente]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093976"/>
            <a:ext cx="1874519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203704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9464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587752"/>
            <a:ext cx="1645920" cy="49377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697480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2º Encontro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587752"/>
            <a:ext cx="53035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2697480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Fluxo de Homologação e Análise de Cadastro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587752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2697480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1º encontro + 7 dias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587752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2697480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63240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081528"/>
            <a:ext cx="1645920" cy="493776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91256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3º Encontro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081528"/>
            <a:ext cx="530352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191256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Preenchimento de Planilhas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081528"/>
            <a:ext cx="228600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3191256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1º encontro + 14 dias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3081528"/>
            <a:ext cx="1874519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3191256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557016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575304"/>
            <a:ext cx="1645920" cy="49377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685032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4º Encontro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3575304"/>
            <a:ext cx="53035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0" y="3685032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Configurações da Base, Relatórios e Outros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3575304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3685032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1º encontro + 21 dias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3575304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3685032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050792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069080"/>
            <a:ext cx="1645920" cy="493776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178808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5º Encontro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4069080"/>
            <a:ext cx="530352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4178808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Prática Assistida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4069080"/>
            <a:ext cx="228600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4178808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1º encontro + 28 dias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4069080"/>
            <a:ext cx="1874519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178808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44568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4562856"/>
            <a:ext cx="1645920" cy="493776"/>
          </a:xfrm>
          <a:prstGeom prst="rect">
            <a:avLst/>
          </a:prstGeom>
          <a:solidFill>
            <a:srgbClr val="0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672584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6º Encontro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03120" y="4562856"/>
            <a:ext cx="53035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94560" y="4672584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Avaliações, Ocorrências e Gestão de Terceiros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06640" y="4562856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79" y="4672584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1º encontro + 35 dias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92640" y="4562856"/>
            <a:ext cx="1874519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84080" y="4672584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038344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5056632"/>
            <a:ext cx="1645920" cy="4937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166360"/>
            <a:ext cx="1463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7º Encontro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3120" y="5056632"/>
            <a:ext cx="530352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94560" y="5166360"/>
            <a:ext cx="5120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2A"/>
                </a:solidFill>
                <a:latin typeface="Calibri"/>
              </a:rPr>
              <a:t>Check-In Final, Dúvidas e Próximos Passos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5056632"/>
            <a:ext cx="2286000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79" y="5166360"/>
            <a:ext cx="21031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1º encontro + 42 dias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92640" y="5056632"/>
            <a:ext cx="1874519" cy="493776"/>
          </a:xfrm>
          <a:prstGeom prst="rect">
            <a:avLst/>
          </a:prstGeom>
          <a:solidFill>
            <a:srgbClr val="F2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84080" y="5166360"/>
            <a:ext cx="1691639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929E"/>
                </a:solidFill>
                <a:latin typeface="Calibri"/>
              </a:rPr>
              <a:t>A agendar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532120"/>
            <a:ext cx="11274552" cy="18288"/>
          </a:xfrm>
          <a:prstGeom prst="rect">
            <a:avLst/>
          </a:prstGeom>
          <a:solidFill>
            <a:srgbClr val="14B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44652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5929E"/>
                </a:solidFill>
                <a:latin typeface="Calibri"/>
              </a:rPr>
              <a:t>  Dica: preencha a data do 1º encontro no Playbook de Onboarding e o cronograma completo será calculado automaticamente.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Efcaz SRM  •  Onboarding  •  [Nome do Cliente]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